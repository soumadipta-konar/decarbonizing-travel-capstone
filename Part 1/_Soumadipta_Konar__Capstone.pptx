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  <p:sldMasterId id="2147483680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SemiBold" panose="000007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109ef6d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f3109ef6d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109ef6db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f3109ef6db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3109ef6db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3109ef6db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3109ef6db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f3109ef6db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3109ef6db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3f3109ef6db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3109ef6db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f3109ef6db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109ef6db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f3109ef6db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3109ef6db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f3109ef6db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5" name="Google Shape;55;p13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6" name="Google Shape;66;p15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black">
  <p:cSld name="Only Title blac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slide white">
  <p:cSld name="Chapterslide white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ith graphic">
  <p:cSld name="Titlepage with graphic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3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6" name="Google Shape;86;p20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>
            <a:spLocks noGrp="1"/>
          </p:cNvSpPr>
          <p:nvPr>
            <p:ph type="pic" idx="4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3" name="Google Shape;93;p21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22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0" name="Google Shape;10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black">
  <p:cSld name="Only Title blac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slide white">
  <p:cSld name="Chapterslide white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9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5" name="Google Shape;125;p29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1" name="Google Shape;131;p30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ith graphic">
  <p:cSld name="Titlepage with graphic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body" idx="3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7" name="Google Shape;137;p31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>
            <a:spLocks noGrp="1"/>
          </p:cNvSpPr>
          <p:nvPr>
            <p:ph type="pic" idx="4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2" name="Google Shape;142;p32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5" name="Google Shape;14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6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>
            <a:spLocks noGrp="1"/>
          </p:cNvSpPr>
          <p:nvPr>
            <p:ph type="title"/>
          </p:nvPr>
        </p:nvSpPr>
        <p:spPr>
          <a:xfrm>
            <a:off x="305992" y="1337057"/>
            <a:ext cx="85317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3800" b="0"/>
              <a:t>Sustainability Capstone:</a:t>
            </a:r>
            <a:endParaRPr sz="38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3800" b="0"/>
              <a:t>Decarbonising Travel</a:t>
            </a:r>
            <a:endParaRPr sz="3800" b="0"/>
          </a:p>
        </p:txBody>
      </p:sp>
      <p:sp>
        <p:nvSpPr>
          <p:cNvPr id="151" name="Google Shape;151;p34"/>
          <p:cNvSpPr txBox="1">
            <a:spLocks noGrp="1"/>
          </p:cNvSpPr>
          <p:nvPr>
            <p:ph type="body" idx="1"/>
          </p:nvPr>
        </p:nvSpPr>
        <p:spPr>
          <a:xfrm>
            <a:off x="305992" y="3706100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Speaker name: </a:t>
            </a:r>
            <a:r>
              <a:rPr lang="en" dirty="0">
                <a:solidFill>
                  <a:srgbClr val="FFC000"/>
                </a:solidFill>
              </a:rPr>
              <a:t>Soumadipta Konar</a:t>
            </a:r>
            <a:endParaRPr dirty="0">
              <a:solidFill>
                <a:srgbClr val="FFC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Institute: </a:t>
            </a:r>
            <a:r>
              <a:rPr lang="en" dirty="0">
                <a:solidFill>
                  <a:srgbClr val="FFC000"/>
                </a:solidFill>
              </a:rPr>
              <a:t>IIEST Shibpur</a:t>
            </a:r>
            <a:endParaRPr dirty="0">
              <a:solidFill>
                <a:srgbClr val="FFC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Branch &amp; Year of Study: </a:t>
            </a:r>
            <a:r>
              <a:rPr lang="en" dirty="0">
                <a:solidFill>
                  <a:srgbClr val="FFC000"/>
                </a:solidFill>
              </a:rPr>
              <a:t>IT(UG 2</a:t>
            </a:r>
            <a:r>
              <a:rPr lang="en" baseline="30000" dirty="0">
                <a:solidFill>
                  <a:srgbClr val="FFC000"/>
                </a:solidFill>
              </a:rPr>
              <a:t>nd</a:t>
            </a:r>
            <a:r>
              <a:rPr lang="en" dirty="0">
                <a:solidFill>
                  <a:srgbClr val="FFC000"/>
                </a:solidFill>
              </a:rPr>
              <a:t> year)</a:t>
            </a:r>
            <a:endParaRPr dirty="0">
              <a:solidFill>
                <a:srgbClr val="FFC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dirty="0"/>
              <a:t>Email ID: </a:t>
            </a:r>
            <a:r>
              <a:rPr lang="en" dirty="0">
                <a:solidFill>
                  <a:srgbClr val="FFC000"/>
                </a:solidFill>
              </a:rPr>
              <a:t>soumadipta.konar2005@gmail.com</a:t>
            </a:r>
            <a:endParaRPr dirty="0">
              <a:solidFill>
                <a:srgbClr val="FFC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sp>
        <p:nvSpPr>
          <p:cNvPr id="152" name="Google Shape;152;p34"/>
          <p:cNvSpPr txBox="1">
            <a:spLocks noGrp="1"/>
          </p:cNvSpPr>
          <p:nvPr>
            <p:ph type="body" idx="3"/>
          </p:nvPr>
        </p:nvSpPr>
        <p:spPr>
          <a:xfrm>
            <a:off x="305990" y="2808542"/>
            <a:ext cx="833992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/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Where </a:t>
            </a:r>
            <a:r>
              <a:rPr lang="en-IN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Celonis</a:t>
            </a:r>
            <a:r>
              <a:rPr lang="en-IN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' carbon footprint actually comes from — and the quick wins hiding in the process data.</a:t>
            </a:r>
            <a:endParaRPr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/>
              <a:t>Executive Summary</a:t>
            </a:r>
            <a:endParaRPr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B9443-B868-2A51-928D-8DB98A9504E2}"/>
              </a:ext>
            </a:extLst>
          </p:cNvPr>
          <p:cNvSpPr txBox="1"/>
          <p:nvPr/>
        </p:nvSpPr>
        <p:spPr>
          <a:xfrm>
            <a:off x="0" y="1033345"/>
            <a:ext cx="4378712" cy="332398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Celonis</a:t>
            </a:r>
            <a:r>
              <a:rPr lang="en-IN" dirty="0"/>
              <a:t>' business travel emitted an estimated </a:t>
            </a:r>
            <a:r>
              <a:rPr lang="en-IN" b="1" dirty="0"/>
              <a:t>114,300 tCO2e/year</a:t>
            </a:r>
            <a:r>
              <a:rPr lang="en-IN" dirty="0"/>
              <a:t> (annualized from 65,289 trips over the ~18-month dataset), costing </a:t>
            </a:r>
            <a:r>
              <a:rPr lang="en-IN" b="1" dirty="0"/>
              <a:t>$90.2M/year</a:t>
            </a:r>
            <a:r>
              <a:rPr lang="en-I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highlight>
                  <a:srgbClr val="FF0000"/>
                </a:highlight>
              </a:rPr>
              <a:t>Top 3 insights:</a:t>
            </a:r>
          </a:p>
          <a:p>
            <a:pPr lvl="6" algn="just"/>
            <a:r>
              <a:rPr lang="en-IN" dirty="0"/>
              <a:t>              1. Asia-Pacific departure hubs drive </a:t>
            </a:r>
            <a:r>
              <a:rPr lang="en-IN" b="1" dirty="0"/>
              <a:t>66% of all emissions</a:t>
            </a:r>
            <a:r>
              <a:rPr lang="en-IN" dirty="0"/>
              <a:t> despite being ~47% of trips</a:t>
            </a:r>
          </a:p>
          <a:p>
            <a:pPr lvl="6" algn="just"/>
            <a:r>
              <a:rPr lang="en-IN" dirty="0"/>
              <a:t>              2. trips booked </a:t>
            </a:r>
            <a:r>
              <a:rPr lang="en-IN" b="1" dirty="0"/>
              <a:t>within 14 days of departure</a:t>
            </a:r>
            <a:r>
              <a:rPr lang="en-IN" dirty="0"/>
              <a:t> are out-of-policy </a:t>
            </a:r>
            <a:r>
              <a:rPr lang="en-IN" b="1" dirty="0"/>
              <a:t>90% of the time</a:t>
            </a:r>
            <a:r>
              <a:rPr lang="en-IN" dirty="0"/>
              <a:t>, vs. 7% for trips booked on time;</a:t>
            </a:r>
          </a:p>
          <a:p>
            <a:pPr lvl="6" algn="just"/>
            <a:r>
              <a:rPr lang="en-IN" dirty="0"/>
              <a:t>             3. the top quartile "high-carbon" trips (25% of trips) generate </a:t>
            </a:r>
            <a:r>
              <a:rPr lang="en-IN" b="1" dirty="0"/>
              <a:t>59% of emissions</a:t>
            </a:r>
            <a:r>
              <a:rPr lang="en-IN" dirty="0"/>
              <a:t> — at virtually the </a:t>
            </a:r>
            <a:r>
              <a:rPr lang="en-IN" b="1" dirty="0"/>
              <a:t>same average cost</a:t>
            </a:r>
            <a:r>
              <a:rPr lang="en-IN" dirty="0"/>
              <a:t> as low-carbon trips ($2,142 vs. $2,155).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599381-9F04-8B41-0060-5F48BA3FAEBF}"/>
              </a:ext>
            </a:extLst>
          </p:cNvPr>
          <p:cNvCxnSpPr>
            <a:cxnSpLocks/>
          </p:cNvCxnSpPr>
          <p:nvPr/>
        </p:nvCxnSpPr>
        <p:spPr>
          <a:xfrm>
            <a:off x="4438185" y="921834"/>
            <a:ext cx="0" cy="41110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8FCB0C-AE9F-1DAA-FA86-E0B05FA03DC3}"/>
              </a:ext>
            </a:extLst>
          </p:cNvPr>
          <p:cNvSpPr txBox="1"/>
          <p:nvPr/>
        </p:nvSpPr>
        <p:spPr>
          <a:xfrm>
            <a:off x="4519961" y="1033345"/>
            <a:ext cx="4505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FF00"/>
                </a:highlight>
              </a:rPr>
              <a:t>Recommendations:</a:t>
            </a:r>
          </a:p>
          <a:p>
            <a:pPr lvl="2"/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911947-5DFA-2174-FEFA-74BB0902F025}"/>
              </a:ext>
            </a:extLst>
          </p:cNvPr>
          <p:cNvSpPr txBox="1"/>
          <p:nvPr/>
        </p:nvSpPr>
        <p:spPr>
          <a:xfrm>
            <a:off x="4913971" y="1405054"/>
            <a:ext cx="39921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Shift the Beijing–Moscow flight corridor to rail.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Enforce the 14-day booking policy at the point of booking.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Default premium-cabin bookings to economy where a low-carbon option costs the same.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0572BE-75F2-C49D-0C3F-1990D7DDFFEF}"/>
              </a:ext>
            </a:extLst>
          </p:cNvPr>
          <p:cNvSpPr txBox="1"/>
          <p:nvPr/>
        </p:nvSpPr>
        <p:spPr>
          <a:xfrm>
            <a:off x="4519961" y="2914186"/>
            <a:ext cx="40515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Project Impact:</a:t>
            </a:r>
          </a:p>
          <a:p>
            <a:r>
              <a:rPr lang="en-US" b="1" dirty="0"/>
              <a:t>  </a:t>
            </a:r>
            <a:r>
              <a:rPr lang="en-IN" dirty="0"/>
              <a:t>Quantified per recommendation on Slide 6 — combined </a:t>
            </a:r>
            <a:r>
              <a:rPr lang="en-IN" b="1" dirty="0"/>
              <a:t>quick wins exceed 6,000 tCO2e/year</a:t>
            </a:r>
            <a:r>
              <a:rPr lang="en-IN" dirty="0"/>
              <a:t> at near-zero net cost.</a:t>
            </a:r>
            <a:endParaRPr lang="en-IN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>
            <a:spLocks noGrp="1"/>
          </p:cNvSpPr>
          <p:nvPr>
            <p:ph type="title"/>
          </p:nvPr>
        </p:nvSpPr>
        <p:spPr>
          <a:xfrm>
            <a:off x="305990" y="277728"/>
            <a:ext cx="84514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+mj-lt"/>
                <a:ea typeface="Segoe UI Black" panose="020B0A02040204020203" pitchFamily="34" charset="0"/>
              </a:rPr>
              <a:t>Emissions Profile and Benchmarking</a:t>
            </a:r>
            <a:endParaRPr sz="2000" b="1" dirty="0"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164" name="Google Shape;164;p36"/>
          <p:cNvSpPr txBox="1"/>
          <p:nvPr/>
        </p:nvSpPr>
        <p:spPr>
          <a:xfrm>
            <a:off x="305991" y="720570"/>
            <a:ext cx="8521800" cy="520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IN" sz="1200" b="1" dirty="0"/>
              <a:t>Total:</a:t>
            </a:r>
            <a:r>
              <a:rPr lang="en-IN" sz="1200" dirty="0"/>
              <a:t> 114,300 tCO2e/yr, $90.2M/yr, ~2.06 tCO2e/employee/yr.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575A2B-A918-0CF4-1B89-811C62177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725" y="720570"/>
            <a:ext cx="4325066" cy="18741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7A17E4-2147-00C1-7065-AC250B8DFC1D}"/>
              </a:ext>
            </a:extLst>
          </p:cNvPr>
          <p:cNvSpPr txBox="1"/>
          <p:nvPr/>
        </p:nvSpPr>
        <p:spPr>
          <a:xfrm>
            <a:off x="209346" y="1240711"/>
            <a:ext cx="423593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By mode</a:t>
            </a:r>
            <a:r>
              <a:rPr lang="en-IN" dirty="0"/>
              <a:t>: </a:t>
            </a:r>
            <a:r>
              <a:rPr lang="en-IN" sz="1200" dirty="0"/>
              <a:t>Business Class Flights are 41% of emissions from just 23% of trips (</a:t>
            </a:r>
            <a:r>
              <a:rPr lang="en-IN" sz="1200" dirty="0" err="1"/>
              <a:t>avg</a:t>
            </a:r>
            <a:r>
              <a:rPr lang="en-IN" sz="1200" dirty="0"/>
              <a:t> 4,865 kg/trip); Economy Flights 39% of emissions from 42% of trips (</a:t>
            </a:r>
            <a:r>
              <a:rPr lang="en-IN" sz="1200" dirty="0" err="1"/>
              <a:t>avg</a:t>
            </a:r>
            <a:r>
              <a:rPr lang="en-IN" sz="1200" dirty="0"/>
              <a:t> 2,555 kg/trip); Train is &lt;1% of emissions despite serving comparable routes (</a:t>
            </a:r>
            <a:r>
              <a:rPr lang="en-IN" sz="1200" dirty="0" err="1"/>
              <a:t>avg</a:t>
            </a:r>
            <a:r>
              <a:rPr lang="en-IN" sz="1200" dirty="0"/>
              <a:t> 445 kg/trip).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18E40A-A62E-2F78-97AA-3B585BC13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05627"/>
            <a:ext cx="9144000" cy="2191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A2E842-EEA1-DFEF-AE03-3CB54D2E384C}"/>
              </a:ext>
            </a:extLst>
          </p:cNvPr>
          <p:cNvSpPr txBox="1"/>
          <p:nvPr/>
        </p:nvSpPr>
        <p:spPr>
          <a:xfrm>
            <a:off x="209346" y="2469803"/>
            <a:ext cx="2630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Benchmarking:</a:t>
            </a:r>
            <a:endParaRPr lang="en-IN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7"/>
          <p:cNvSpPr txBox="1">
            <a:spLocks noGrp="1"/>
          </p:cNvSpPr>
          <p:nvPr>
            <p:ph type="title"/>
          </p:nvPr>
        </p:nvSpPr>
        <p:spPr>
          <a:xfrm>
            <a:off x="667150" y="277728"/>
            <a:ext cx="72231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Hotspot Analysis</a:t>
            </a:r>
            <a:endParaRPr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50CE19-3B51-675F-085D-19E7CE19D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776" y="710311"/>
            <a:ext cx="3087030" cy="15937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B10BF80-EA76-6A33-7510-DB993734E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683" y="3337002"/>
            <a:ext cx="2319454" cy="17395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E435A5-6A9A-F77B-AD61-F8719D8133A9}"/>
              </a:ext>
            </a:extLst>
          </p:cNvPr>
          <p:cNvSpPr txBox="1"/>
          <p:nvPr/>
        </p:nvSpPr>
        <p:spPr>
          <a:xfrm>
            <a:off x="96644" y="802888"/>
            <a:ext cx="56202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Region (by departure hub):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015A0-1D49-1C57-0CD1-579321013571}"/>
              </a:ext>
            </a:extLst>
          </p:cNvPr>
          <p:cNvSpPr txBox="1"/>
          <p:nvPr/>
        </p:nvSpPr>
        <p:spPr>
          <a:xfrm>
            <a:off x="325179" y="1041454"/>
            <a:ext cx="522812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Asia-Pacific 66% of CO2 / 47% of trips (3,824 kg/trip </a:t>
            </a:r>
            <a:r>
              <a:rPr lang="en-IN" sz="1200" dirty="0" err="1"/>
              <a:t>avg</a:t>
            </a:r>
            <a:r>
              <a:rPr lang="en-IN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North America 8%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Europe just 3% (602 kg/trip </a:t>
            </a:r>
            <a:r>
              <a:rPr lang="en-IN" sz="1200" dirty="0" err="1"/>
              <a:t>avg</a:t>
            </a:r>
            <a:r>
              <a:rPr lang="en-IN" sz="1200" dirty="0"/>
              <a:t> — the benchmark for what "good" looks like internally).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Rest of World 23%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55F383-8F1D-FCBC-C563-410EFE9B2732}"/>
              </a:ext>
            </a:extLst>
          </p:cNvPr>
          <p:cNvCxnSpPr>
            <a:cxnSpLocks/>
          </p:cNvCxnSpPr>
          <p:nvPr/>
        </p:nvCxnSpPr>
        <p:spPr>
          <a:xfrm>
            <a:off x="4278741" y="2087894"/>
            <a:ext cx="60877" cy="30556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7FD18E-CB7F-CB0D-1C31-13DF25DB3DD4}"/>
              </a:ext>
            </a:extLst>
          </p:cNvPr>
          <p:cNvSpPr txBox="1"/>
          <p:nvPr/>
        </p:nvSpPr>
        <p:spPr>
          <a:xfrm>
            <a:off x="96644" y="2304035"/>
            <a:ext cx="2639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Business Unit: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5B05A2-0B62-41D4-EC21-B756690F2051}"/>
              </a:ext>
            </a:extLst>
          </p:cNvPr>
          <p:cNvSpPr txBox="1"/>
          <p:nvPr/>
        </p:nvSpPr>
        <p:spPr>
          <a:xfrm>
            <a:off x="325179" y="2602880"/>
            <a:ext cx="378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Sales alone = 34% of emissions (21,890 trips)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Marketing 19%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Combined top 2 BUs = 53% of footprint.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5985F2-F052-3A39-C5F8-A77ABCA7E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180" y="3249211"/>
            <a:ext cx="2616820" cy="21806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84BE85-E5B4-49ED-EA73-ED1210378748}"/>
              </a:ext>
            </a:extLst>
          </p:cNvPr>
          <p:cNvSpPr txBox="1"/>
          <p:nvPr/>
        </p:nvSpPr>
        <p:spPr>
          <a:xfrm>
            <a:off x="4278741" y="2330984"/>
            <a:ext cx="1670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Purpose: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73A8F6-6FE6-D9C8-964E-61D301714132}"/>
              </a:ext>
            </a:extLst>
          </p:cNvPr>
          <p:cNvSpPr txBox="1"/>
          <p:nvPr/>
        </p:nvSpPr>
        <p:spPr>
          <a:xfrm>
            <a:off x="4339618" y="2706029"/>
            <a:ext cx="28715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Customer Visits 43% of emissions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Conference/Exhibition 35%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/>
              <a:t>Internal Travel 22%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 txBox="1">
            <a:spLocks noGrp="1"/>
          </p:cNvSpPr>
          <p:nvPr>
            <p:ph type="title"/>
          </p:nvPr>
        </p:nvSpPr>
        <p:spPr>
          <a:xfrm>
            <a:off x="315950" y="80472"/>
            <a:ext cx="79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Inefficiencies Identified</a:t>
            </a:r>
            <a:endParaRPr sz="2000" dirty="0"/>
          </a:p>
        </p:txBody>
      </p:sp>
      <p:sp>
        <p:nvSpPr>
          <p:cNvPr id="176" name="Google Shape;176;p38"/>
          <p:cNvSpPr txBox="1"/>
          <p:nvPr/>
        </p:nvSpPr>
        <p:spPr>
          <a:xfrm>
            <a:off x="315950" y="1069975"/>
            <a:ext cx="8521800" cy="851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D502F8-C470-B3DF-EF1B-3FD218AAC7CD}"/>
              </a:ext>
            </a:extLst>
          </p:cNvPr>
          <p:cNvSpPr txBox="1"/>
          <p:nvPr/>
        </p:nvSpPr>
        <p:spPr>
          <a:xfrm>
            <a:off x="0" y="766454"/>
            <a:ext cx="31285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/>
              <a:t>Late booking → policy breach:</a:t>
            </a:r>
            <a:r>
              <a:rPr lang="en-IN" sz="1100" dirty="0"/>
              <a:t> trips booked &lt;14 days before departure are out-of-policy </a:t>
            </a:r>
            <a:r>
              <a:rPr lang="en-IN" sz="1100" b="1" dirty="0"/>
              <a:t>90.1% of the time vs. 6.8% </a:t>
            </a:r>
            <a:r>
              <a:rPr lang="en-IN" sz="1100" dirty="0"/>
              <a:t>for compliant lead times — this is the single strongest predictor of non-compliance in the data.</a:t>
            </a:r>
          </a:p>
          <a:p>
            <a:endParaRPr lang="en-IN"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7F423A-A204-B631-DC55-E57CBCA43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2" y="1971576"/>
            <a:ext cx="1986641" cy="146331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C80496-B9B4-C5FC-FE87-FA13D4ABF893}"/>
              </a:ext>
            </a:extLst>
          </p:cNvPr>
          <p:cNvCxnSpPr/>
          <p:nvPr/>
        </p:nvCxnSpPr>
        <p:spPr>
          <a:xfrm>
            <a:off x="3009639" y="599372"/>
            <a:ext cx="0" cy="22689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A7E89F-38A2-19DF-D7FC-D93FB32BDBFF}"/>
              </a:ext>
            </a:extLst>
          </p:cNvPr>
          <p:cNvSpPr txBox="1"/>
          <p:nvPr/>
        </p:nvSpPr>
        <p:spPr>
          <a:xfrm>
            <a:off x="3009639" y="756812"/>
            <a:ext cx="28868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Only 13.9% of trips are booked within that late window, but they account for a disproportionate share of the </a:t>
            </a:r>
            <a:r>
              <a:rPr lang="en-IN" sz="1050" b="1" dirty="0"/>
              <a:t>18.4%-of-trips </a:t>
            </a:r>
            <a:r>
              <a:rPr lang="en-IN" sz="1050" dirty="0"/>
              <a:t>/ </a:t>
            </a:r>
            <a:r>
              <a:rPr lang="en-IN" sz="1050" b="1" dirty="0"/>
              <a:t>24.4%-of-emissions </a:t>
            </a:r>
            <a:r>
              <a:rPr lang="en-IN" sz="1050" dirty="0"/>
              <a:t>out-of-policy total.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B47F43-4798-1BFA-CE0B-B5CE275E6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736" y="1992474"/>
            <a:ext cx="1324753" cy="13632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3B44FE-817A-8996-7E08-7F4944376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857" y="2046030"/>
            <a:ext cx="1428226" cy="117649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C2EA98-82A5-06F9-3B67-37D91558DE76}"/>
              </a:ext>
            </a:extLst>
          </p:cNvPr>
          <p:cNvCxnSpPr>
            <a:cxnSpLocks/>
          </p:cNvCxnSpPr>
          <p:nvPr/>
        </p:nvCxnSpPr>
        <p:spPr>
          <a:xfrm>
            <a:off x="5882786" y="574128"/>
            <a:ext cx="0" cy="22689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40930AC-1DDD-1D3A-0422-89CDF5097C9A}"/>
              </a:ext>
            </a:extLst>
          </p:cNvPr>
          <p:cNvSpPr txBox="1"/>
          <p:nvPr/>
        </p:nvSpPr>
        <p:spPr>
          <a:xfrm>
            <a:off x="5913128" y="719781"/>
            <a:ext cx="323087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b="1" dirty="0"/>
              <a:t>Process pain points from the event log:</a:t>
            </a:r>
            <a:r>
              <a:rPr lang="en-IN" sz="1050" dirty="0"/>
              <a:t> 1,153 flight cancellations, 1,229 flight delays, 895 missed flights, 427 denied expense claims (top denial reasons: personal expense, missing receipt, out-of-policy, late submission — each ~25% of denials).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D82EEA-5BF3-F7D7-01CB-9995358C27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484" y="1793518"/>
            <a:ext cx="2869569" cy="14231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76B6D1B-BD5D-FAA5-3C3F-88731B6601A2}"/>
              </a:ext>
            </a:extLst>
          </p:cNvPr>
          <p:cNvSpPr txBox="1"/>
          <p:nvPr/>
        </p:nvSpPr>
        <p:spPr>
          <a:xfrm>
            <a:off x="0" y="3427194"/>
            <a:ext cx="7582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Conformance note:</a:t>
            </a:r>
            <a:endParaRPr lang="en-IN" sz="1100" b="1" dirty="0"/>
          </a:p>
          <a:p>
            <a:r>
              <a:rPr lang="en-IN" sz="1100" b="1" dirty="0"/>
              <a:t>           </a:t>
            </a:r>
            <a:r>
              <a:rPr lang="en-IN" sz="1100" dirty="0"/>
              <a:t> The Navan booking sequence (transport must be booked before the request is formally submitted) is worth flagging in the Process Explorer as a system-driven variant, not a </a:t>
            </a:r>
            <a:r>
              <a:rPr lang="en-IN" sz="1100" dirty="0" err="1"/>
              <a:t>behavioral</a:t>
            </a:r>
            <a:r>
              <a:rPr lang="en-IN" sz="1100" dirty="0"/>
              <a:t> one.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0ED65F3-973F-ABD4-926C-B3BCA7D7A2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3199" y="3222524"/>
            <a:ext cx="1350801" cy="13931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Low Carbon Strategic Recommendations (Quantified)</a:t>
            </a:r>
            <a:endParaRPr sz="2000" b="1" dirty="0"/>
          </a:p>
        </p:txBody>
      </p:sp>
      <p:sp>
        <p:nvSpPr>
          <p:cNvPr id="182" name="Google Shape;182;p39"/>
          <p:cNvSpPr txBox="1"/>
          <p:nvPr/>
        </p:nvSpPr>
        <p:spPr>
          <a:xfrm>
            <a:off x="315950" y="1069975"/>
            <a:ext cx="5661104" cy="115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.</a:t>
            </a:r>
            <a:endParaRPr dirty="0"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57C850-D138-43B2-8A58-1DEC3AA35AF6}"/>
              </a:ext>
            </a:extLst>
          </p:cNvPr>
          <p:cNvSpPr txBox="1"/>
          <p:nvPr/>
        </p:nvSpPr>
        <p:spPr>
          <a:xfrm>
            <a:off x="251497" y="1180425"/>
            <a:ext cx="566110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/>
              <a:t>Shift Beijing–Moscow flights to rail</a:t>
            </a:r>
            <a:r>
              <a:rPr lang="en-IN" dirty="0"/>
              <a:t> (route already has a working train alternative): saves </a:t>
            </a:r>
            <a:r>
              <a:rPr lang="en-IN" b="1" dirty="0"/>
              <a:t>~3,200 tCO2e/year</a:t>
            </a:r>
            <a:r>
              <a:rPr lang="en-IN" dirty="0"/>
              <a:t> and </a:t>
            </a:r>
            <a:r>
              <a:rPr lang="en-IN" b="1" dirty="0"/>
              <a:t>~$36K/year</a:t>
            </a:r>
            <a:r>
              <a:rPr lang="en-IN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Shift Sydney–Beijing flights to rail</a:t>
            </a:r>
            <a:r>
              <a:rPr lang="en-IN" dirty="0"/>
              <a:t>: saves </a:t>
            </a:r>
            <a:r>
              <a:rPr lang="en-IN" b="1" dirty="0"/>
              <a:t>~1,930 tCO2e/year</a:t>
            </a:r>
            <a:r>
              <a:rPr lang="en-IN" dirty="0"/>
              <a:t> and </a:t>
            </a:r>
            <a:r>
              <a:rPr lang="en-IN" b="1" dirty="0"/>
              <a:t>~$23K/year</a:t>
            </a:r>
            <a:r>
              <a:rPr lang="en-IN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Replace remaining diesel/petrol fleet cars with EV/hybrid</a:t>
            </a:r>
            <a:r>
              <a:rPr lang="en-IN" dirty="0"/>
              <a:t>: saves </a:t>
            </a:r>
            <a:r>
              <a:rPr lang="en-IN" b="1" dirty="0"/>
              <a:t>~1,010 tCO2e/year</a:t>
            </a:r>
            <a:r>
              <a:rPr lang="en-IN" dirty="0"/>
              <a:t> for a </a:t>
            </a:r>
            <a:r>
              <a:rPr lang="en-IN" b="1" dirty="0"/>
              <a:t>~$115K/year</a:t>
            </a:r>
            <a:r>
              <a:rPr lang="en-IN" dirty="0"/>
              <a:t> premium (~$7/tCO2e — cheap relative to market carbon credit prices).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Enforce 14-day booking lead time at point-of-booking</a:t>
            </a:r>
            <a:r>
              <a:rPr lang="en-IN" dirty="0"/>
              <a:t>: directly addresses the trips driving the 90% out-of-policy rate; conservatively targets the ~28,000 tCO2e/year currently tied to out-of-policy trips.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Combined quantified quick wins: </a:t>
            </a:r>
            <a:r>
              <a:rPr lang="en-IN" b="1" dirty="0"/>
              <a:t>&gt;6,000 tCO2e/year</a:t>
            </a:r>
            <a:r>
              <a:rPr lang="en-IN" dirty="0"/>
              <a:t>, most at cost-neutral or cost-saving terms.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BE2CD-C7DF-EA65-091B-418C377B3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089" y="961587"/>
            <a:ext cx="3413911" cy="4066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 txBox="1">
            <a:spLocks noGrp="1"/>
          </p:cNvSpPr>
          <p:nvPr>
            <p:ph type="title"/>
          </p:nvPr>
        </p:nvSpPr>
        <p:spPr>
          <a:xfrm>
            <a:off x="315950" y="106743"/>
            <a:ext cx="79455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Roadmap</a:t>
            </a:r>
            <a:endParaRPr sz="2000" dirty="0"/>
          </a:p>
        </p:txBody>
      </p:sp>
      <p:sp>
        <p:nvSpPr>
          <p:cNvPr id="188" name="Google Shape;188;p40"/>
          <p:cNvSpPr txBox="1"/>
          <p:nvPr/>
        </p:nvSpPr>
        <p:spPr>
          <a:xfrm>
            <a:off x="315950" y="1069975"/>
            <a:ext cx="8521800" cy="50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.</a:t>
            </a:r>
            <a:endParaRPr sz="18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78E2E1-9599-E97C-8BC4-66BD924F2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1" y="669074"/>
            <a:ext cx="9018497" cy="46389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1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Dashboard 1: Emmision Overview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E829E-1E5E-FC2A-C3DC-54EFEF8FF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8331"/>
            <a:ext cx="9144000" cy="38972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C3A9-D7EF-739E-C215-A76667DFC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54" y="84441"/>
            <a:ext cx="7945500" cy="246300"/>
          </a:xfrm>
        </p:spPr>
        <p:txBody>
          <a:bodyPr/>
          <a:lstStyle/>
          <a:p>
            <a:pPr algn="ctr"/>
            <a:r>
              <a:rPr lang="en-US" dirty="0"/>
              <a:t>Dashboard 2:Benchmarking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E248B-0065-4B98-DFE7-74F45634D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817"/>
            <a:ext cx="9144000" cy="404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3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BF19-33A6-F5D5-0C54-751ED1EC4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557" y="143913"/>
            <a:ext cx="7945500" cy="276999"/>
          </a:xfrm>
        </p:spPr>
        <p:txBody>
          <a:bodyPr/>
          <a:lstStyle/>
          <a:p>
            <a:pPr algn="ctr"/>
            <a:r>
              <a:rPr lang="en-US" sz="1800" dirty="0"/>
              <a:t>Dashboard 3 : Emissions drilldown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B70AAA-856D-210A-AB86-6DE76ABBE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6134"/>
            <a:ext cx="9144000" cy="433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91897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Office PowerPoint</Application>
  <PresentationFormat>On-screen Show (16:9)</PresentationFormat>
  <Paragraphs>57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Poppins SemiBold</vt:lpstr>
      <vt:lpstr>Arial</vt:lpstr>
      <vt:lpstr>Poppins</vt:lpstr>
      <vt:lpstr>Simple Light</vt:lpstr>
      <vt:lpstr>Celonis Template 2024</vt:lpstr>
      <vt:lpstr>Celonis Template 2024</vt:lpstr>
      <vt:lpstr>Sustainability Capstone: Decarbonising Travel</vt:lpstr>
      <vt:lpstr>Executive Summary</vt:lpstr>
      <vt:lpstr>Emissions Profile and Benchmarking</vt:lpstr>
      <vt:lpstr>Hotspot Analysis</vt:lpstr>
      <vt:lpstr>Inefficiencies Identified</vt:lpstr>
      <vt:lpstr>Low Carbon Strategic Recommendations (Quantified)</vt:lpstr>
      <vt:lpstr>Roadmap</vt:lpstr>
      <vt:lpstr>Dashboard 1: Emmision Overview</vt:lpstr>
      <vt:lpstr>Dashboard 2:Benchmarking</vt:lpstr>
      <vt:lpstr>Dashboard 3 : Emissions drilldown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soumadipta.konar2005@outlook.com</cp:lastModifiedBy>
  <cp:revision>1</cp:revision>
  <dcterms:modified xsi:type="dcterms:W3CDTF">2026-07-13T14:57:32Z</dcterms:modified>
</cp:coreProperties>
</file>